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2" r:id="rId9"/>
    <p:sldId id="261" r:id="rId10"/>
    <p:sldId id="262" r:id="rId11"/>
    <p:sldId id="263" r:id="rId12"/>
    <p:sldId id="266" r:id="rId13"/>
    <p:sldId id="265" r:id="rId14"/>
    <p:sldId id="267" r:id="rId15"/>
    <p:sldId id="268" r:id="rId16"/>
    <p:sldId id="273" r:id="rId17"/>
    <p:sldId id="269" r:id="rId18"/>
    <p:sldId id="270" r:id="rId19"/>
  </p:sldIdLst>
  <p:sldSz cx="12192000" cy="6858000"/>
  <p:notesSz cx="6858000" cy="9144000"/>
  <p:custDataLst>
    <p:tags r:id="rId2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4A6"/>
    <a:srgbClr val="F3D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5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内容来源：用户提供《提示词.docx》，D:/D盘/提示词.docx；用户原始立项会 PPT 文案。主题：商业落点与滩头用户假设。AI与手工混合创作者来自原始PPT；文档尾部提出该人群是否适合作为滩头用户的待验证问题，不视为已经证明的市场事实。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tags" Target="../tags/tag2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4.xml"/><Relationship Id="rId15" Type="http://schemas.openxmlformats.org/officeDocument/2006/relationships/image" Target="../media/image7.jpeg"/><Relationship Id="rId14" Type="http://schemas.openxmlformats.org/officeDocument/2006/relationships/tags" Target="../tags/tag13.xml"/><Relationship Id="rId13" Type="http://schemas.openxmlformats.org/officeDocument/2006/relationships/image" Target="../media/image6.jpeg"/><Relationship Id="rId12" Type="http://schemas.openxmlformats.org/officeDocument/2006/relationships/image" Target="../media/image5.jpeg"/><Relationship Id="rId11" Type="http://schemas.openxmlformats.org/officeDocument/2006/relationships/tags" Target="../tags/tag12.xml"/><Relationship Id="rId10" Type="http://schemas.openxmlformats.org/officeDocument/2006/relationships/image" Target="../media/image4.jpe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1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71525" y="1570355"/>
            <a:ext cx="4725670" cy="88773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839075" y="4267200"/>
            <a:ext cx="3190875" cy="1381125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181100"/>
            <a:ext cx="7620000" cy="1200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67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记艺线</a:t>
            </a:r>
            <a:endParaRPr sz="960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71525" y="29972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1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17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925445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</a:t>
            </a:r>
            <a:r>
              <a:rPr lang="zh-CN" sz="24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</a:t>
            </a:r>
            <a:r>
              <a:rPr sz="24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过程层</a:t>
            </a:r>
            <a:endParaRPr sz="240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39075" y="46659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i="1">
                <a:solidFill>
                  <a:schemeClr val="bg1"/>
                </a:solidFill>
              </a:rPr>
              <a:t>Memo_Line</a:t>
            </a:r>
            <a:endParaRPr lang="en-US" altLang="zh-CN" sz="3200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2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67715" y="1552575"/>
            <a:ext cx="5443855" cy="117094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143000"/>
            <a:ext cx="685800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数字创作，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能不能只删掉两小时前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的一次决定？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04875" y="4171950"/>
            <a:ext cx="485775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假设一个画师在</a:t>
            </a:r>
            <a:r>
              <a: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两小时前加了一层</a:t>
            </a: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底色</a:t>
            </a:r>
            <a:endParaRPr sz="15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后来又在它之上画了</a:t>
            </a: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</a:t>
            </a:r>
            <a:endParaRPr sz="15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</a:t>
            </a:r>
            <a:r>
              <a: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发现：这层</a:t>
            </a: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底色</a:t>
            </a:r>
            <a:r>
              <a:rPr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从一开始就</a:t>
            </a: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不该用这个</a:t>
            </a:r>
            <a:r>
              <a:rPr lang="zh-CN" sz="15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</a:t>
            </a:r>
            <a:endParaRPr lang="zh-CN" sz="15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9470" y="5589270"/>
            <a:ext cx="7810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i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能不能删掉它，同时保留之后的创作？</a:t>
            </a:r>
            <a:endParaRPr lang="zh-CN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59875" y="1772920"/>
            <a:ext cx="621665" cy="74485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endParaRPr lang="zh-CN" altLang="en-US" sz="3200" b="1" i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 descr="c8ef09bce776351691d56ecfde718ac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6360" y="1484630"/>
            <a:ext cx="914400" cy="914400"/>
          </a:xfrm>
          <a:prstGeom prst="rect">
            <a:avLst/>
          </a:prstGeom>
        </p:spPr>
      </p:pic>
      <p:pic>
        <p:nvPicPr>
          <p:cNvPr id="18" name="图片 17" descr="c8ef09bce776351691d56ecfde718ac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00000">
            <a:off x="9480550" y="2996565"/>
            <a:ext cx="914400" cy="914400"/>
          </a:xfrm>
          <a:prstGeom prst="rect">
            <a:avLst/>
          </a:prstGeom>
        </p:spPr>
      </p:pic>
      <p:pic>
        <p:nvPicPr>
          <p:cNvPr id="19" name="图片 18" descr="7ab7b5ddc40ef7423334ac666d3266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990" y="1005840"/>
            <a:ext cx="1760220" cy="2279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3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5238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现有工具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只有三种选择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04875" y="2857500"/>
            <a:ext cx="295275" cy="72390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24000" y="289560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回到过去</a:t>
            </a:r>
            <a:endParaRPr sz="23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86125" y="2924175"/>
            <a:ext cx="590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那之后</a:t>
            </a: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的工作一起没了</a:t>
            </a:r>
            <a:r>
              <a:rPr lang="zh-CN"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27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04875" y="3857625"/>
            <a:ext cx="295275" cy="72390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24000" y="3895725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修补现在</a:t>
            </a:r>
            <a:endParaRPr sz="23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286125" y="3924300"/>
            <a:ext cx="240157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橡皮、蒙版、框选、覆盖绘制</a:t>
            </a:r>
            <a:endParaRPr sz="127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越改越脏，越改越累</a:t>
            </a:r>
            <a:endParaRPr sz="127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04875" y="4857750"/>
            <a:ext cx="295275" cy="72390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24000" y="489585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提前组织</a:t>
            </a:r>
            <a:endParaRPr sz="23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286125" y="4924425"/>
            <a:ext cx="5905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分图层、存副本、建分支</a:t>
            </a:r>
            <a:endParaRPr sz="127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lang="zh-CN"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无法提前知道以后会后悔什么</a:t>
            </a:r>
            <a:endParaRPr sz="127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 descr="85903938962e4acf8ac500de8ca6e927"/>
          <p:cNvPicPr>
            <a:picLocks noChangeAspect="1"/>
          </p:cNvPicPr>
          <p:nvPr/>
        </p:nvPicPr>
        <p:blipFill>
          <a:blip r:embed="rId10"/>
          <a:srcRect l="34690" t="28072"/>
          <a:stretch>
            <a:fillRect/>
          </a:stretch>
        </p:blipFill>
        <p:spPr>
          <a:xfrm>
            <a:off x="6887845" y="805815"/>
            <a:ext cx="1355725" cy="193294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592570" y="805815"/>
            <a:ext cx="295275" cy="1932305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pic>
        <p:nvPicPr>
          <p:cNvPr id="18" name="图片 17" descr="0e33f731b45c9553abdf06ae6acea9b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6410" y="4580890"/>
            <a:ext cx="1143000" cy="2311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040370" y="638111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(ﾟ∀ﾟ)</a:t>
            </a:r>
            <a:endParaRPr lang="zh-CN" altLang="en-US"/>
          </a:p>
        </p:txBody>
      </p:sp>
      <p:pic>
        <p:nvPicPr>
          <p:cNvPr id="20" name="图片 19" descr="90468a626acd33d68c680625353ebc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4330" y="4530090"/>
            <a:ext cx="1143000" cy="23368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0474960" y="6381750"/>
            <a:ext cx="3645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(〒︿〒)</a:t>
            </a:r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599555" y="4580890"/>
            <a:ext cx="236855" cy="227711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pic>
        <p:nvPicPr>
          <p:cNvPr id="23" name="图片 22" descr="eec342d41cd474e33fda2266433adfc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7845" y="2804795"/>
            <a:ext cx="1719580" cy="1710055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92570" y="2804795"/>
            <a:ext cx="280670" cy="177673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25" name="文本框 24"/>
          <p:cNvSpPr txBox="1"/>
          <p:nvPr/>
        </p:nvSpPr>
        <p:spPr>
          <a:xfrm>
            <a:off x="8243570" y="13087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保存的文件是什么时候，要返工多少全凭</a:t>
            </a:r>
            <a:r>
              <a:rPr lang="zh-CN" altLang="en-US"/>
              <a:t>运气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688070" y="3432175"/>
            <a:ext cx="342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套索容易误伤，小的橡皮又要扣</a:t>
            </a:r>
            <a:r>
              <a:rPr lang="zh-CN" altLang="en-US"/>
              <a:t>很久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383520" y="5301615"/>
            <a:ext cx="1924050" cy="608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后期为了省内存把图层</a:t>
            </a:r>
            <a:r>
              <a:rPr lang="zh-CN" altLang="en-US"/>
              <a:t>提前合并</a:t>
            </a:r>
            <a:r>
              <a:rPr lang="zh-CN" altLang="en-US"/>
              <a:t>了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035925" y="5365750"/>
            <a:ext cx="1188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还好分图层</a:t>
            </a:r>
            <a:r>
              <a:rPr lang="zh-CN" altLang="en-US"/>
              <a:t>了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4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66800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问题是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修改粒度错了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90625" y="2675890"/>
            <a:ext cx="2366645" cy="183134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99759" y="2708807"/>
            <a:ext cx="1969477" cy="3188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文件级修改</a:t>
            </a:r>
            <a:endParaRPr sz="18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78194" y="4075620"/>
            <a:ext cx="1969477" cy="22508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00"/>
          </a:bodyPr>
          <a:lstStyle/>
          <a:p>
            <a:pPr>
              <a:defRPr sz="12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85615" y="2725420"/>
            <a:ext cx="2279015" cy="1804035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285762" y="2717697"/>
            <a:ext cx="1969477" cy="3188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像素级修改</a:t>
            </a:r>
            <a:endParaRPr sz="18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73087" y="4075620"/>
            <a:ext cx="1969477" cy="22508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00"/>
          </a:bodyPr>
          <a:lstStyle/>
          <a:p>
            <a:pPr>
              <a:defRPr sz="12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380605" y="2725420"/>
            <a:ext cx="2255520" cy="1781810"/>
          </a:xfrm>
          <a:prstGeom prst="rect">
            <a:avLst/>
          </a:prstGeom>
          <a:solidFill>
            <a:srgbClr val="D5E9D8"/>
          </a:solidFill>
          <a:ln w="9525">
            <a:solidFill>
              <a:srgbClr val="D5E9D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371764" y="2742462"/>
            <a:ext cx="1969477" cy="31886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对象级修改</a:t>
            </a:r>
            <a:endParaRPr sz="18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567979" y="4075620"/>
            <a:ext cx="1969477" cy="22508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00"/>
          </a:bodyPr>
          <a:lstStyle/>
          <a:p>
            <a:pPr>
              <a:defRPr sz="12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62500" y="531495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325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1270" y="3101340"/>
            <a:ext cx="2183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回到旧版本，推倒重来。最干净利落，但之后画的一切都没了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67530" y="3101340"/>
            <a:ext cx="21240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100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72F2C"/>
                </a:solidFill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橡皮、蒙版、框选、覆盖绘制。</a:t>
            </a:r>
            <a:r>
              <a:rPr lang="zh-CN" sz="1800">
                <a:solidFill>
                  <a:srgbClr val="272F2C"/>
                </a:solidFill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最直观，最直接。但</a:t>
            </a:r>
            <a:r>
              <a:rPr sz="1800">
                <a:solidFill>
                  <a:srgbClr val="272F2C"/>
                </a:solidFill>
                <a:latin typeface="+mn-ea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只能围绕当前结果补救，</a:t>
            </a:r>
            <a:endParaRPr lang="zh-CN" altLang="en-US"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64425" y="3068955"/>
            <a:ext cx="20574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100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分图层、另存文件、建副本。</a:t>
            </a:r>
            <a:r>
              <a:rPr lang="zh-CN" sz="180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最有效，但</a:t>
            </a:r>
            <a:r>
              <a:rPr sz="180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这要求你在探索之前，就预判以后会后悔什么。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39470" y="5157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但创作者们真正在心里想的</a:t>
            </a:r>
            <a:r>
              <a:rPr lang="zh-CN" altLang="en-US"/>
              <a:t>是：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223385" y="558927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i="1">
                <a:solidFill>
                  <a:schemeClr val="accent2"/>
                </a:solidFill>
              </a:rPr>
              <a:t>如果我当时</a:t>
            </a:r>
            <a:r>
              <a:rPr lang="en-US" altLang="zh-CN" sz="4000" i="1">
                <a:solidFill>
                  <a:schemeClr val="accent2"/>
                </a:solidFill>
              </a:rPr>
              <a:t>……</a:t>
            </a:r>
            <a:endParaRPr lang="en-US" altLang="zh-CN" sz="4000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66750" y="2095500"/>
            <a:ext cx="4267200" cy="2857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DED8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5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710565"/>
            <a:ext cx="7048500" cy="136080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更进一步来说是绘画软件，</a:t>
            </a:r>
            <a:endParaRPr lang="zh-CN"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从不自动为探索</a:t>
            </a:r>
            <a:r>
              <a:rPr lang="zh-CN"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</a:t>
            </a:r>
            <a:endParaRPr lang="zh-CN"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95325" y="2211070"/>
            <a:ext cx="2704465" cy="67500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20000"/>
          </a:bodyPr>
          <a:lstStyle/>
          <a:p>
            <a:pPr>
              <a:defRPr sz="1800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他们</a:t>
            </a:r>
            <a:r>
              <a:rPr lang="zh-CN" sz="2000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理想中用户干的：</a:t>
            </a:r>
            <a:endParaRPr lang="zh-CN" sz="2000" b="1" i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086100"/>
            <a:ext cx="24765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 i="1">
                <a:solidFill>
                  <a:schemeClr val="bg1"/>
                </a:solidFill>
                <a:sym typeface="+mn-ea"/>
              </a:rPr>
              <a:t>先组织</a:t>
            </a:r>
            <a:endParaRPr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9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 i="1">
                <a:solidFill>
                  <a:schemeClr val="bg1"/>
                </a:solidFill>
                <a:sym typeface="+mn-ea"/>
              </a:rPr>
              <a:t>再创作</a:t>
            </a:r>
            <a:endParaRPr sz="2925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09675" y="55245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7273"/>
          </a:bodyPr>
          <a:lstStyle/>
          <a:p>
            <a:pPr>
              <a:defRPr sz="165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1" i="0">
              <a:solidFill>
                <a:srgbClr val="EEB5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44335" y="2096135"/>
            <a:ext cx="4267200" cy="2857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DED8F2"/>
            </a:solidFill>
            <a:prstDash val="solid"/>
          </a:ln>
        </p:spPr>
      </p:sp>
      <p:sp>
        <p:nvSpPr>
          <p:cNvPr id="13" name="文本框 12"/>
          <p:cNvSpPr txBox="1"/>
          <p:nvPr/>
        </p:nvSpPr>
        <p:spPr>
          <a:xfrm>
            <a:off x="6816090" y="2211070"/>
            <a:ext cx="2072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实际上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用户干的：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60235" y="2719070"/>
            <a:ext cx="3801110" cy="1095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 i="1">
                <a:latin typeface="微软雅黑" panose="020B0503020204020204" charset="-122"/>
                <a:ea typeface="微软雅黑" panose="020B0503020204020204" charset="-122"/>
              </a:rPr>
              <a:t>先创作</a:t>
            </a:r>
            <a:endParaRPr lang="zh-CN" altLang="en-US" sz="2800" b="1" i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i="1">
                <a:latin typeface="微软雅黑" panose="020B0503020204020204" charset="-122"/>
                <a:ea typeface="微软雅黑" panose="020B0503020204020204" charset="-122"/>
              </a:rPr>
              <a:t>边画边临时组织</a:t>
            </a:r>
            <a:endParaRPr lang="zh-CN" altLang="en-US" sz="2800" b="1" i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i="1">
                <a:latin typeface="微软雅黑" panose="020B0503020204020204" charset="-122"/>
                <a:ea typeface="微软雅黑" panose="020B0503020204020204" charset="-122"/>
              </a:rPr>
              <a:t>然后，</a:t>
            </a:r>
            <a:endParaRPr lang="zh-CN" altLang="en-US" sz="2800" b="1" i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i="1">
                <a:latin typeface="微软雅黑" panose="020B0503020204020204" charset="-122"/>
                <a:ea typeface="微软雅黑" panose="020B0503020204020204" charset="-122"/>
              </a:rPr>
              <a:t>后知后觉地发现错误</a:t>
            </a:r>
            <a:endParaRPr lang="zh-CN" altLang="en-US" sz="2800" b="1" i="1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i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6750" y="5301615"/>
            <a:ext cx="9324975" cy="824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于是，用户依然无法做到只改自己想改的。在</a:t>
            </a:r>
            <a:r>
              <a:rPr lang="zh-CN" altLang="en-US" b="1"/>
              <a:t>用户调研</a:t>
            </a:r>
            <a:r>
              <a:rPr lang="zh-CN" altLang="en-US"/>
              <a:t>中，约八成受访者表示因为修改的弯弯绕绕，进而导致了许多</a:t>
            </a:r>
            <a:r>
              <a:rPr lang="zh-CN" altLang="en-US" b="1"/>
              <a:t>妥协</a:t>
            </a:r>
            <a:endParaRPr lang="zh-CN" alt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66750" y="1001395"/>
            <a:ext cx="4613275" cy="12280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DED8F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5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710565"/>
            <a:ext cx="7048500" cy="136080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50" b="0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而在不同的场景里</a:t>
            </a:r>
            <a:endParaRPr lang="zh-CN" sz="4050" b="0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50" b="0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会演变成不同的痛点</a:t>
            </a:r>
            <a:endParaRPr lang="zh-CN" sz="4050" b="0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4050" b="0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5370" y="3086100"/>
            <a:ext cx="24765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925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09675" y="55245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7273"/>
          </a:bodyPr>
          <a:lstStyle/>
          <a:p>
            <a:pPr>
              <a:defRPr sz="165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1" i="0">
              <a:solidFill>
                <a:srgbClr val="EEB5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04875" y="2857500"/>
            <a:ext cx="295275" cy="72390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24000" y="2895600"/>
            <a:ext cx="161988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传统手绘</a:t>
            </a:r>
            <a:r>
              <a:rPr lang="en-US" altLang="zh-CN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</a:t>
            </a:r>
            <a:endParaRPr lang="zh-CN" altLang="en-US" sz="23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04875" y="3857625"/>
            <a:ext cx="295275" cy="72390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524000" y="3895725"/>
            <a:ext cx="200723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商业美术</a:t>
            </a:r>
            <a:r>
              <a:rPr lang="en-US" altLang="zh-CN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游戏概念</a:t>
            </a:r>
            <a:r>
              <a:rPr lang="zh-CN" altLang="en-US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lang="zh-CN" altLang="en-US" sz="23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04875" y="4857750"/>
            <a:ext cx="295275" cy="72390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524000" y="4895850"/>
            <a:ext cx="16192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</a:t>
            </a:r>
            <a:r>
              <a:rPr lang="en-US" altLang="zh-CN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3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</a:t>
            </a:r>
            <a:endParaRPr lang="zh-CN" altLang="en-US" sz="23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863340" y="2860675"/>
            <a:ext cx="76473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i="1">
                <a:solidFill>
                  <a:schemeClr val="accent1"/>
                </a:solidFill>
              </a:rPr>
              <a:t>痛点是探索成本。</a:t>
            </a:r>
            <a:r>
              <a:rPr lang="zh-CN" altLang="en-US"/>
              <a:t>构图、线稿、色彩、光影不断尝试，一旦后续工作覆盖上去，早期方案就越来越难回头。于是创作者变得越来越保守，对于几乎每个作品中都会大量存在的后知后觉的错误只能妥协。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886200" y="3895725"/>
            <a:ext cx="7456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i="1">
                <a:solidFill>
                  <a:schemeClr val="accent1"/>
                </a:solidFill>
              </a:rPr>
              <a:t>痛点是后期需求变更。</a:t>
            </a:r>
            <a:r>
              <a:rPr lang="zh-CN" altLang="en-US"/>
              <a:t>客户一句“还是把两小时前那个方向换回来”，现有工作流经常意味着</a:t>
            </a:r>
            <a:r>
              <a:rPr lang="zh-CN" altLang="en-US"/>
              <a:t>大量的人工返修甚至重做。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935730" y="4725035"/>
            <a:ext cx="7268845" cy="86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 i="1">
                <a:solidFill>
                  <a:schemeClr val="accent1"/>
                </a:solidFill>
              </a:rPr>
              <a:t>痛点是对于如何修改的沟通。</a:t>
            </a:r>
            <a:r>
              <a:rPr lang="zh-CN" altLang="en-US">
                <a:solidFill>
                  <a:schemeClr val="tx1"/>
                </a:solidFill>
              </a:rPr>
              <a:t>教学与交接长期依赖语言、批注和成品状态来描述修改意图，但很多创作修改本质上是过程性的。双方很容易在“到底改哪一步、怎么改、哪些后续工作保留”上产生偏差。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6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116965"/>
            <a:ext cx="6095365" cy="104775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908685"/>
            <a:ext cx="6191250" cy="146494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4050" b="0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所以我们要做</a:t>
            </a:r>
            <a:endParaRPr lang="zh-CN" altLang="en-US" sz="4050" b="0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4800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记艺线</a:t>
            </a:r>
            <a:endParaRPr lang="zh-CN" altLang="en-US" sz="4800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7700" y="2637155"/>
            <a:ext cx="295275" cy="7239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15" name="文本框 14"/>
          <p:cNvSpPr txBox="1"/>
          <p:nvPr/>
        </p:nvSpPr>
        <p:spPr>
          <a:xfrm>
            <a:off x="1055370" y="2708910"/>
            <a:ext cx="4422775" cy="651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27125" y="3675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47700" y="3573145"/>
            <a:ext cx="3834765" cy="635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55370" y="2625725"/>
            <a:ext cx="50018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ym typeface="+mn-ea"/>
              </a:rPr>
              <a:t>记艺线是一层面向数字创作的可执行过程系统。</a:t>
            </a:r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7700" y="3933190"/>
            <a:ext cx="3572510" cy="25622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23" name="文本框 22"/>
          <p:cNvSpPr txBox="1"/>
          <p:nvPr/>
        </p:nvSpPr>
        <p:spPr>
          <a:xfrm>
            <a:off x="647700" y="3833495"/>
            <a:ext cx="4064000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 i="1"/>
              <a:t>记艺线记录的作品：</a:t>
            </a:r>
            <a:endParaRPr lang="zh-CN" altLang="en-US" sz="2400" b="1" i="1"/>
          </a:p>
          <a:p>
            <a:r>
              <a:rPr lang="en-US" altLang="zh-CN" sz="1600"/>
              <a:t> 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sp>
        <p:nvSpPr>
          <p:cNvPr id="24" name="文本框 23"/>
          <p:cNvSpPr txBox="1"/>
          <p:nvPr/>
        </p:nvSpPr>
        <p:spPr>
          <a:xfrm>
            <a:off x="767080" y="435864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原有图层 / 对象结构  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机械事件  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每段事件影响了哪里  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关键历史状态 / 快照  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聚集性事件包  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分支  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后续可推导的抽象事件与关系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191125" y="3904615"/>
            <a:ext cx="3572510" cy="2562225"/>
          </a:xfrm>
          <a:prstGeom prst="rect">
            <a:avLst/>
          </a:prstGeom>
          <a:solidFill>
            <a:srgbClr val="F7E4A6"/>
          </a:solidFill>
          <a:ln w="9525">
            <a:solidFill>
              <a:srgbClr val="F3D7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7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00125"/>
            <a:ext cx="619125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让一次过去的决定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换种形式</a:t>
            </a: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2476500"/>
            <a:ext cx="247650" cy="333375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381125" y="24955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59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当前结果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00125" y="2809875"/>
            <a:ext cx="209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0497"/>
          </a:bodyPr>
          <a:lstStyle/>
          <a:p>
            <a:pPr>
              <a:def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3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57250" y="3019425"/>
            <a:ext cx="247650" cy="333375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81125" y="303847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59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反查来源事件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0125" y="3352800"/>
            <a:ext cx="209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0497"/>
          </a:bodyPr>
          <a:lstStyle/>
          <a:p>
            <a:pPr>
              <a:def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3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57250" y="3562350"/>
            <a:ext cx="247650" cy="333375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81125" y="35814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59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排除或派生修改事件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000125" y="3895725"/>
            <a:ext cx="209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0497"/>
          </a:bodyPr>
          <a:lstStyle/>
          <a:p>
            <a:pPr>
              <a:def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3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57250" y="4105275"/>
            <a:ext cx="247650" cy="333375"/>
          </a:xfrm>
          <a:prstGeom prst="rect">
            <a:avLst/>
          </a:prstGeom>
          <a:solidFill>
            <a:srgbClr val="D5E9D8"/>
          </a:solidFill>
          <a:ln w="9525">
            <a:solidFill>
              <a:srgbClr val="D5E9D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381125" y="412432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59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恢复可靠基线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00125" y="4438650"/>
            <a:ext cx="209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0497"/>
          </a:bodyPr>
          <a:lstStyle/>
          <a:p>
            <a:pPr>
              <a:def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3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7250" y="4648200"/>
            <a:ext cx="247650" cy="333375"/>
          </a:xfrm>
          <a:prstGeom prst="rect">
            <a:avLst/>
          </a:prstGeom>
          <a:solidFill>
            <a:srgbClr val="DED8F2"/>
          </a:solidFill>
          <a:ln w="9525">
            <a:solidFill>
              <a:srgbClr val="DED8F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381125" y="46672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59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选择性重放后续过程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000125" y="4981575"/>
            <a:ext cx="209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0497"/>
          </a:bodyPr>
          <a:lstStyle/>
          <a:p>
            <a:pPr>
              <a:def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3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57250" y="5191125"/>
            <a:ext cx="247650" cy="333375"/>
          </a:xfrm>
          <a:prstGeom prst="rect">
            <a:avLst/>
          </a:prstGeom>
          <a:solidFill>
            <a:srgbClr val="EEB5A4"/>
          </a:solidFill>
          <a:ln w="9525">
            <a:solidFill>
              <a:srgbClr val="EEB5A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381125" y="521017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159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得到新的现在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8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28700"/>
            <a:ext cx="51435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初版只验证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一件事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819400"/>
            <a:ext cx="4857750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1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无需提前规划，</a:t>
            </a:r>
            <a:endParaRPr sz="217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1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事后从构成去修改作品</a:t>
            </a:r>
            <a:endParaRPr sz="217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34125" y="1619250"/>
            <a:ext cx="1666875" cy="66675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86525" y="18383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>
              <a:def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精确撤销</a:t>
            </a:r>
            <a:endParaRPr sz="1425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429625" y="1619250"/>
            <a:ext cx="1666875" cy="66675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82025" y="18383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>
              <a:def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事件排除</a:t>
            </a:r>
            <a:endParaRPr sz="1425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34125" y="2809875"/>
            <a:ext cx="1666875" cy="66675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86525" y="30289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>
              <a:def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任意历史回溯</a:t>
            </a:r>
            <a:endParaRPr sz="1425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29625" y="2809875"/>
            <a:ext cx="1666875" cy="666750"/>
          </a:xfrm>
          <a:prstGeom prst="rect">
            <a:avLst/>
          </a:prstGeom>
          <a:solidFill>
            <a:srgbClr val="D5E9D8"/>
          </a:solidFill>
          <a:ln w="9525">
            <a:solidFill>
              <a:srgbClr val="D5E9D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82025" y="30289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>
              <a:def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分支创作</a:t>
            </a:r>
            <a:endParaRPr sz="1425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81875" y="5191125"/>
            <a:ext cx="1666875" cy="666750"/>
          </a:xfrm>
          <a:prstGeom prst="rect">
            <a:avLst/>
          </a:prstGeom>
          <a:solidFill>
            <a:srgbClr val="DED8F2"/>
          </a:solidFill>
          <a:ln w="9525">
            <a:solidFill>
              <a:srgbClr val="DED8F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534275" y="541020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02"/>
          </a:bodyPr>
          <a:lstStyle/>
          <a:p>
            <a:pPr>
              <a:def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自动过程组织</a:t>
            </a:r>
            <a:endParaRPr sz="1425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29375" y="4333875"/>
            <a:ext cx="37147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它们都在回答同一个问题：</a:t>
            </a:r>
            <a:endParaRPr sz="14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如果我当时……现在能不能回来修改？</a:t>
            </a:r>
            <a:endParaRPr sz="14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/ 1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50482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为什么不是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更强的撤销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43625" y="1314450"/>
            <a:ext cx="3714750" cy="179070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33337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356"/>
          </a:bodyPr>
          <a:lstStyle/>
          <a:p>
            <a:pPr>
              <a:defRPr sz="21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撤销</a:t>
            </a:r>
            <a:endParaRPr sz="21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38481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>
              <a:def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沿时间回退</a:t>
            </a:r>
            <a:endParaRPr sz="16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0" y="169545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356"/>
          </a:bodyPr>
          <a:lstStyle/>
          <a:p>
            <a:pPr>
              <a:defRPr sz="217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记艺线</a:t>
            </a:r>
            <a:endParaRPr sz="2175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96050" y="2266950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从当前结果反查来源事件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排除其中一部分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再让后续历史重新发生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57375" y="52387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时间回退</a:t>
            </a:r>
            <a:endParaRPr sz="13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24625" y="52387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结果反查 + 局部重放</a:t>
            </a:r>
            <a:endParaRPr sz="1350" b="1" i="0">
              <a:solidFill>
                <a:srgbClr val="EEB5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 / 10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667625" y="904875"/>
            <a:ext cx="2895600" cy="1714500"/>
          </a:xfrm>
          <a:prstGeom prst="rect">
            <a:avLst/>
          </a:prstGeom>
          <a:solidFill>
            <a:srgbClr val="EEB5A4"/>
          </a:solidFill>
          <a:ln w="9525">
            <a:solidFill>
              <a:srgbClr val="EEB5A4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143000"/>
            <a:ext cx="6477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529"/>
          </a:bodyPr>
          <a:lstStyle/>
          <a:p>
            <a:pPr>
              <a:defRPr sz="25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今天，我们先解决</a:t>
            </a:r>
            <a:endParaRPr sz="25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5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一个很具体的问题：</a:t>
            </a:r>
            <a:endParaRPr sz="25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381250"/>
            <a:ext cx="80962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9"/>
          </a:bodyPr>
          <a:lstStyle/>
          <a:p>
            <a:pPr>
              <a:defRPr sz="29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让画师能够修改过去的一次创作决定</a:t>
            </a:r>
            <a:endParaRPr sz="2925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762375"/>
            <a:ext cx="8191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如果这件事成立，我们就得到一种过去没有的创作工程文件：</a:t>
            </a:r>
            <a:endParaRPr sz="18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它不仅保存作品，还保存作品怎样生成。</a:t>
            </a:r>
            <a:endParaRPr sz="18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5286375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362"/>
          </a:bodyPr>
          <a:lstStyle/>
          <a:p>
            <a:pPr>
              <a:defRPr sz="35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记艺线</a:t>
            </a:r>
            <a:endParaRPr sz="3525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0" y="51911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561"/>
          </a:bodyPr>
          <a:lstStyle/>
          <a:p>
            <a:pPr>
              <a:def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如果我当时……</a:t>
            </a:r>
            <a:endParaRPr sz="14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让后悔可改，让心流不断</a:t>
            </a:r>
            <a:endParaRPr sz="14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/ 2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技术核心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943100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667"/>
          </a:bodyPr>
          <a:lstStyle/>
          <a:p>
            <a:pPr>
              <a:defRPr sz="1875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让历史既能复现，也能被理解</a:t>
            </a:r>
            <a:endParaRPr sz="1875" b="1" i="0">
              <a:solidFill>
                <a:srgbClr val="EEB5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86050"/>
            <a:ext cx="4476750" cy="180975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2952750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205"/>
          </a:bodyPr>
          <a:lstStyle/>
          <a:p>
            <a:pPr>
              <a:defRPr sz="195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复现层</a:t>
            </a:r>
            <a:endParaRPr sz="195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34290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机械事件：做了什么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385000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脏矩阵：改了哪里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427101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快照：可靠恢复锚点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857500"/>
            <a:ext cx="4286250" cy="161925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96050" y="31146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205"/>
          </a:bodyPr>
          <a:lstStyle/>
          <a:p>
            <a:pPr>
              <a:defRPr sz="195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组织层</a:t>
            </a:r>
            <a:endParaRPr sz="195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15100" y="35909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聚集性事件包：过程段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15100" y="404050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抽象事件：起稿、改构图、修细节</a:t>
            </a:r>
            <a:endParaRPr sz="14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09587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>
              <a:defRPr sz="17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事实稳定，组织可变</a:t>
            </a:r>
            <a:endParaRPr sz="1725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5734050"/>
            <a:ext cx="7143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833"/>
          </a:bodyPr>
          <a:lstStyle/>
          <a:p>
            <a:pPr>
              <a:def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结果复用 + 按需重放 + 快照兜底</a:t>
            </a:r>
            <a:endParaRPr sz="18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61436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/>
          <a:p>
            <a:pPr>
              <a:defRPr sz="12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只有历史编辑破坏后续输入条件时，才局部重放。</a:t>
            </a:r>
            <a:endParaRPr sz="120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/ 3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数据权利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48425" y="1123950"/>
            <a:ext cx="3905250" cy="1238250"/>
          </a:xfrm>
          <a:prstGeom prst="rect">
            <a:avLst/>
          </a:prstGeom>
          <a:solidFill>
            <a:srgbClr val="DED8F2"/>
          </a:solidFill>
          <a:ln w="9525">
            <a:solidFill>
              <a:srgbClr val="DED8F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190750"/>
            <a:ext cx="4953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871"/>
          </a:bodyPr>
          <a:lstStyle/>
          <a:p>
            <a:pPr>
              <a:defRPr sz="23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过程数据首先属于创作者</a:t>
            </a:r>
            <a:endParaRPr sz="23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3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 AI</a:t>
            </a:r>
            <a:endParaRPr sz="23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3429000"/>
            <a:ext cx="4095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395"/>
          </a:bodyPr>
          <a:lstStyle/>
          <a:p>
            <a:pPr>
              <a:defRPr sz="2025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记录，不等于公开</a:t>
            </a:r>
            <a:endParaRPr sz="2025" b="1" i="0">
              <a:solidFill>
                <a:srgbClr val="EEB5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40957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</a:t>
            </a:r>
            <a:endParaRPr sz="16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458724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</a:t>
            </a:r>
            <a:endParaRPr sz="16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507873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再创作</a:t>
            </a:r>
            <a:endParaRPr sz="16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557022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</a:t>
            </a:r>
            <a:endParaRPr sz="16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606171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商业训练</a:t>
            </a:r>
            <a:endParaRPr sz="165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19875" y="300990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524"/>
          </a:bodyPr>
          <a:lstStyle/>
          <a:p>
            <a:pPr>
              <a:defRPr sz="21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必须拆开授权</a:t>
            </a:r>
            <a:endParaRPr sz="21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91300" y="3714750"/>
            <a:ext cx="342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训练只能建立在明确授权上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96125" y="4762500"/>
            <a:ext cx="285750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20262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10425" y="4876800"/>
            <a:ext cx="2628900" cy="7620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62825" y="5157788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 授权层级示意 ］</a:t>
            </a:r>
            <a:endParaRPr sz="127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362825" y="5538788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/>
          </a:bodyPr>
          <a:lstStyle/>
          <a:p>
            <a:pPr>
              <a:defRPr sz="9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替换此占位框</a:t>
            </a:r>
            <a:endParaRPr sz="90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7419975" y="4714875"/>
            <a:ext cx="3055620" cy="649605"/>
          </a:xfrm>
          <a:prstGeom prst="rect">
            <a:avLst/>
          </a:prstGeom>
          <a:solidFill>
            <a:srgbClr val="EEB5A4"/>
          </a:solidFill>
          <a:ln w="9525">
            <a:solidFill>
              <a:srgbClr val="EEB5A4"/>
            </a:solidFill>
            <a:prstDash val="solid"/>
          </a:ln>
        </p:spPr>
      </p:sp>
      <p:sp>
        <p:nvSpPr>
          <p:cNvPr id="16" name="记艺线  /  立项会"/>
          <p:cNvSpPr>
            <a:spLocks noGrp="1"/>
          </p:cNvSpPr>
          <p:nvPr/>
        </p:nvSpPr>
        <p:spPr>
          <a:xfrm>
            <a:off x="533400" y="266700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966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 b="0">
              <a:solidFill>
                <a:srgbClr val="5966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主讲"/>
          <p:cNvSpPr>
            <a:spLocks noGrp="1"/>
          </p:cNvSpPr>
          <p:nvPr/>
        </p:nvSpPr>
        <p:spPr>
          <a:xfrm>
            <a:off x="10096500" y="266700"/>
            <a:ext cx="1562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966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6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</a:t>
            </a:r>
            <a:endParaRPr sz="1200" b="0">
              <a:solidFill>
                <a:srgbClr val="5966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09600"/>
            <a:ext cx="11125200" cy="9525"/>
          </a:xfrm>
          <a:prstGeom prst="rect">
            <a:avLst/>
          </a:prstGeom>
          <a:solidFill>
            <a:srgbClr val="A7B1A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20450" y="6429375"/>
            <a:ext cx="438150" cy="66675"/>
          </a:xfrm>
          <a:prstGeom prst="rect">
            <a:avLst/>
          </a:prstGeom>
          <a:solidFill>
            <a:srgbClr val="F1E0A9"/>
          </a:solidFill>
          <a:ln w="0">
            <a:noFill/>
          </a:ln>
        </p:spPr>
      </p:sp>
      <p:sp>
        <p:nvSpPr>
          <p:cNvPr id="5" name="15"/>
          <p:cNvSpPr>
            <a:spLocks noGrp="1"/>
          </p:cNvSpPr>
          <p:nvPr/>
        </p:nvSpPr>
        <p:spPr>
          <a:xfrm>
            <a:off x="10429875" y="631507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59665F"/>
                </a:solidFill>
                <a:latin typeface="Bodoni MT" panose="02070603080606020203"/>
                <a:ea typeface="Bodoni MT" panose="02070603080606020203"/>
                <a:cs typeface="Bodoni MT" panose="02070603080606020203"/>
              </a:defRPr>
            </a:pPr>
            <a:r>
              <a:rPr sz="1350" b="0">
                <a:solidFill>
                  <a:srgbClr val="59665F"/>
                </a:solidFill>
                <a:latin typeface="Bodoni MT" panose="02070603080606020203"/>
                <a:ea typeface="Bodoni MT" panose="02070603080606020203"/>
                <a:cs typeface="Bodoni MT" panose="02070603080606020203"/>
              </a:rPr>
              <a:t>15</a:t>
            </a:r>
            <a:endParaRPr sz="1350" b="0">
              <a:solidFill>
                <a:srgbClr val="59665F"/>
              </a:solidFill>
              <a:latin typeface="Bodoni MT" panose="02070603080606020203"/>
              <a:ea typeface="Bodoni MT" panose="02070603080606020203"/>
              <a:cs typeface="Bodoni MT" panose="02070603080606020203"/>
            </a:endParaRPr>
          </a:p>
        </p:txBody>
      </p:sp>
      <p:sp>
        <p:nvSpPr>
          <p:cNvPr id="6" name="先服务，最怕返工的人"/>
          <p:cNvSpPr>
            <a:spLocks noGrp="1"/>
          </p:cNvSpPr>
          <p:nvPr/>
        </p:nvSpPr>
        <p:spPr>
          <a:xfrm>
            <a:off x="533400" y="9334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800" b="0">
                <a:solidFill>
                  <a:srgbClr val="272F2C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defRPr>
            </a:pPr>
            <a:r>
              <a:rPr sz="4000" b="0" i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先服务，</a:t>
            </a:r>
            <a:endParaRPr sz="4000" b="0" i="1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  <a:p>
            <a:pPr algn="l">
              <a:defRPr sz="4800" b="0">
                <a:solidFill>
                  <a:srgbClr val="272F2C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defRPr>
            </a:pPr>
            <a:r>
              <a:rPr lang="zh-CN" sz="4000" b="0" i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返工最频繁</a:t>
            </a:r>
            <a:r>
              <a:rPr sz="4000" b="0" i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charset="-122"/>
              </a:rPr>
              <a:t>的人</a:t>
            </a:r>
            <a:endParaRPr sz="4000" b="0" i="1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华文楷体" panose="02010600040101010101" charset="-122"/>
            </a:endParaRPr>
          </a:p>
        </p:txBody>
      </p:sp>
      <p:sp>
        <p:nvSpPr>
          <p:cNvPr id="7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35730" y="5589270"/>
            <a:ext cx="514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9D493F"/>
                </a:solidFill>
                <a:latin typeface="Bodoni MT" panose="02070603080606020203"/>
                <a:ea typeface="Bodoni MT" panose="02070603080606020203"/>
                <a:cs typeface="Bodoni MT" panose="02070603080606020203"/>
              </a:defRPr>
            </a:pPr>
            <a:endParaRPr sz="2625" b="0">
              <a:solidFill>
                <a:srgbClr val="9D493F"/>
              </a:solidFill>
              <a:latin typeface="Bodoni MT" panose="02070603080606020203"/>
              <a:ea typeface="Bodoni MT" panose="02070603080606020203"/>
              <a:cs typeface="Bodoni MT" panose="02070603080606020203"/>
            </a:endParaRPr>
          </a:p>
        </p:txBody>
      </p:sp>
      <p:sp>
        <p:nvSpPr>
          <p:cNvPr id="8" name="高频插画与设计创作者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3400" y="2286000"/>
            <a:ext cx="52292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高频插画与设计创作者</a:t>
            </a:r>
            <a:endParaRPr sz="2325" b="1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有连续创作和频繁修改需求，能直观感受到返工时间与版本管理负担。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3400" y="2819400"/>
            <a:ext cx="5229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有连续创作和频繁修改需求，能直观感受到返工时间与版本管理负担。</a:t>
            </a:r>
            <a:endParaRPr sz="2025" b="0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9125" y="4210050"/>
            <a:ext cx="514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9D493F"/>
                </a:solidFill>
                <a:latin typeface="Bodoni MT" panose="02070603080606020203"/>
                <a:ea typeface="Bodoni MT" panose="02070603080606020203"/>
                <a:cs typeface="Bodoni MT" panose="02070603080606020203"/>
              </a:defRPr>
            </a:pPr>
            <a:endParaRPr sz="2625" b="0">
              <a:solidFill>
                <a:srgbClr val="9D493F"/>
              </a:solidFill>
              <a:latin typeface="Bodoni MT" panose="02070603080606020203"/>
              <a:ea typeface="Bodoni MT" panose="02070603080606020203"/>
              <a:cs typeface="Bodoni MT" panose="02070603080606020203"/>
            </a:endParaRPr>
          </a:p>
        </p:txBody>
      </p:sp>
      <p:sp>
        <p:nvSpPr>
          <p:cNvPr id="11" name="AI 与手工混合创作者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33400" y="4005580"/>
            <a:ext cx="52292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与手工混合创作者</a:t>
            </a:r>
            <a:endParaRPr sz="2325" b="1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区域重生成后继续手绘，容易出现“早期选择不满意、后续工作想保留”的冲突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33400" y="4538980"/>
            <a:ext cx="5229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区域重生成后继续手绘，容易出现“早期选择不满意、后续工作想保留”的冲突。</a:t>
            </a:r>
            <a:endParaRPr sz="2025" b="0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购买动机"/>
          <p:cNvSpPr>
            <a:spLocks noGrp="1"/>
          </p:cNvSpPr>
          <p:nvPr/>
        </p:nvSpPr>
        <p:spPr>
          <a:xfrm>
            <a:off x="7419975" y="2800350"/>
            <a:ext cx="3352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0">
                <a:solidFill>
                  <a:srgbClr val="272F2C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defRPr>
            </a:pPr>
            <a:endParaRPr sz="3300" b="0">
              <a:solidFill>
                <a:srgbClr val="272F2C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5" name="更低的返工成本&#10;更少的防御性操作&#10;更高的创作可修改性"/>
          <p:cNvSpPr>
            <a:spLocks noGrp="1"/>
          </p:cNvSpPr>
          <p:nvPr/>
        </p:nvSpPr>
        <p:spPr>
          <a:xfrm>
            <a:off x="7419975" y="3371850"/>
            <a:ext cx="3333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更低的返工成本</a:t>
            </a:r>
            <a:endParaRPr sz="2175" b="0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更少的防御性操作</a:t>
            </a:r>
            <a:endParaRPr sz="2175" b="0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更高的创作可修改性</a:t>
            </a:r>
            <a:endParaRPr sz="2175" b="0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以及最重要的：</a:t>
            </a:r>
            <a:endParaRPr lang="zh-CN" sz="2175" b="0">
              <a:solidFill>
                <a:srgbClr val="272F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75" b="0">
                <a:solidFill>
                  <a:srgbClr val="272F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600" b="0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更自如地探索</a:t>
            </a:r>
            <a:endParaRPr lang="zh-CN" sz="3600" b="0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/ 4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6191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长期成长路线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04875" y="2571750"/>
            <a:ext cx="2095500" cy="97155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76325" y="2743200"/>
            <a:ext cx="17621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500"/>
          </a:bodyPr>
          <a:lstStyle/>
          <a:p>
            <a:pPr>
              <a:def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工具价值</a:t>
            </a:r>
            <a:endParaRPr sz="15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76325" y="30765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修改历史</a:t>
            </a:r>
            <a:endParaRPr sz="11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28950" y="2914650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5415"/>
          </a:bodyPr>
          <a:lstStyle/>
          <a:p>
            <a:pPr>
              <a:defRPr sz="17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7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29000" y="3162300"/>
            <a:ext cx="2095500" cy="971550"/>
          </a:xfrm>
          <a:prstGeom prst="rect">
            <a:avLst/>
          </a:prstGeom>
          <a:solidFill>
            <a:srgbClr val="CFE3ED"/>
          </a:solidFill>
          <a:ln w="9525">
            <a:solidFill>
              <a:srgbClr val="CFE3ED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00450" y="3333750"/>
            <a:ext cx="17621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500"/>
          </a:bodyPr>
          <a:lstStyle/>
          <a:p>
            <a:pPr>
              <a:def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过程工程文件</a:t>
            </a:r>
            <a:endParaRPr sz="15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00450" y="366712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17"/>
          </a:bodyPr>
          <a:lstStyle/>
          <a:p>
            <a:pPr>
              <a:def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组织、读取、恢复、分支、交接</a:t>
            </a:r>
            <a:endParaRPr sz="11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53075" y="3505200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5415"/>
          </a:bodyPr>
          <a:lstStyle/>
          <a:p>
            <a:pPr>
              <a:defRPr sz="17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7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53125" y="2571750"/>
            <a:ext cx="2095500" cy="971550"/>
          </a:xfrm>
          <a:prstGeom prst="rect">
            <a:avLst/>
          </a:prstGeom>
          <a:solidFill>
            <a:srgbClr val="F7E4A6"/>
          </a:solidFill>
          <a:ln w="9525">
            <a:solidFill>
              <a:srgbClr val="F7E4A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24575" y="2743200"/>
            <a:ext cx="17621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500"/>
          </a:bodyPr>
          <a:lstStyle/>
          <a:p>
            <a:pPr>
              <a:def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过程媒介</a:t>
            </a:r>
            <a:endParaRPr sz="15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24575" y="30765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教学、协作、授权再创作</a:t>
            </a:r>
            <a:endParaRPr sz="11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77200" y="2914650"/>
            <a:ext cx="3048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5415"/>
          </a:bodyPr>
          <a:lstStyle/>
          <a:p>
            <a:pPr>
              <a:defRPr sz="17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725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77250" y="3162300"/>
            <a:ext cx="2095500" cy="971550"/>
          </a:xfrm>
          <a:prstGeom prst="rect">
            <a:avLst/>
          </a:prstGeom>
          <a:solidFill>
            <a:srgbClr val="D5E9D8"/>
          </a:solidFill>
          <a:ln w="9525">
            <a:solidFill>
              <a:srgbClr val="D5E9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648700" y="3333750"/>
            <a:ext cx="17621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500"/>
          </a:bodyPr>
          <a:lstStyle/>
          <a:p>
            <a:pPr>
              <a:def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过程智能</a:t>
            </a:r>
            <a:endParaRPr sz="15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366712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理解并参与创作过程</a:t>
            </a:r>
            <a:endParaRPr sz="11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5381625"/>
            <a:ext cx="8572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06"/>
          </a:bodyPr>
          <a:lstStyle/>
          <a:p>
            <a:pPr>
              <a:def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这不是初版承诺，而是核心能力成立后的自然生长路径。</a:t>
            </a:r>
            <a:endParaRPr sz="172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571500" y="4572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>
              <a:def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/ 5</a:t>
            </a:r>
            <a:endParaRPr sz="975" b="1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96625" y="457200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i="0">
                <a:solidFill>
                  <a:srgbClr val="6E73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 i="0">
              <a:solidFill>
                <a:srgbClr val="6E73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477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0"/>
          </a:bodyPr>
          <a:lstStyle/>
          <a:p>
            <a:pPr>
              <a:def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风险与验证</a:t>
            </a:r>
            <a:endParaRPr sz="405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2190750"/>
            <a:ext cx="4762500" cy="2000250"/>
          </a:xfrm>
          <a:prstGeom prst="rect">
            <a:avLst/>
          </a:prstGeom>
          <a:solidFill>
            <a:srgbClr val="F3D7DD"/>
          </a:solidFill>
          <a:ln w="9525">
            <a:solidFill>
              <a:srgbClr val="F3D7D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247650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667"/>
          </a:bodyPr>
          <a:lstStyle/>
          <a:p>
            <a:pPr>
              <a:defRPr sz="18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我们先验证一个很窄</a:t>
            </a:r>
            <a:endParaRPr sz="187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但新的核心能力：</a:t>
            </a:r>
            <a:endParaRPr sz="1875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3276600"/>
            <a:ext cx="38576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972"/>
          </a:bodyPr>
          <a:lstStyle/>
          <a:p>
            <a:pPr>
              <a:def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创作者是否愿意为</a:t>
            </a:r>
            <a:endParaRPr sz="18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“事后修改历史”持续使用记艺线？</a:t>
            </a:r>
            <a:endParaRPr sz="1800" b="1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81750" y="2047875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833"/>
          </a:bodyPr>
          <a:lstStyle/>
          <a:p>
            <a:pPr>
              <a:defRPr sz="180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EEB5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如果成立，才有多个延展方向：</a:t>
            </a:r>
            <a:endParaRPr sz="1800" b="1" i="0">
              <a:solidFill>
                <a:srgbClr val="EEB5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2714625"/>
            <a:ext cx="2857500" cy="41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历史编辑工具</a:t>
            </a:r>
            <a:endParaRPr sz="18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0" y="3240405"/>
            <a:ext cx="2857500" cy="41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过程工程文件</a:t>
            </a:r>
            <a:endParaRPr sz="18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0" y="3766185"/>
            <a:ext cx="2857500" cy="41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过程媒介</a:t>
            </a:r>
            <a:endParaRPr sz="18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0" y="4291965"/>
            <a:ext cx="2857500" cy="41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过程智能</a:t>
            </a:r>
            <a:endParaRPr sz="1800" b="0" i="0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" y="5476875"/>
            <a:ext cx="9048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>
              <a:defRPr sz="180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1">
                <a:solidFill>
                  <a:srgbClr val="2026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战略可选性大，不等于一开始就押注全部愿景。</a:t>
            </a:r>
            <a:endParaRPr sz="1800" b="0" i="1">
              <a:solidFill>
                <a:srgbClr val="2026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41560054&quot;}"/>
</p:tagLst>
</file>

<file path=ppt/tags/tag2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41560054&quot;}"/>
</p:tagLst>
</file>

<file path=ppt/tags/tag3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4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5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6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7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8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9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10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11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12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13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14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15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16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17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18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19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20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21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22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23.xml><?xml version="1.0" encoding="utf-8"?>
<p:tagLst xmlns:p="http://schemas.openxmlformats.org/presentationml/2006/main">
  <p:tag name="KSO_WM_DIAGRAM_VIRTUALLY_FRAME" val="{&quot;height&quot;:462.3,&quot;left&quot;:93.75,&quot;top&quot;:-105.3,&quot;width&quot;:672}"/>
</p:tagLst>
</file>

<file path=ppt/tags/tag24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25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26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27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28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29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30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31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32.xml><?xml version="1.0" encoding="utf-8"?>
<p:tagLst xmlns:p="http://schemas.openxmlformats.org/presentationml/2006/main">
  <p:tag name="KSO_WM_DIAGRAM_VIRTUALLY_FRAME" val="{&quot;height&quot;:214.5,&quot;left&quot;:71.25,&quot;top&quot;:225,&quot;width&quot;:652.5}"/>
</p:tagLst>
</file>

<file path=ppt/tags/tag33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34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35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36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37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38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39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0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1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2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3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4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5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6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7.xml><?xml version="1.0" encoding="utf-8"?>
<p:tagLst xmlns:p="http://schemas.openxmlformats.org/presentationml/2006/main">
  <p:tag name="KSO_WM_DIAGRAM_VIRTUALLY_FRAME" val="{&quot;height&quot;:213.75,&quot;left&quot;:67.5,&quot;top&quot;:221.25,&quot;width&quot;:363.75}"/>
</p:tagLst>
</file>

<file path=ppt/tags/tag48.xml><?xml version="1.0" encoding="utf-8"?>
<p:tagLst xmlns:p="http://schemas.openxmlformats.org/presentationml/2006/main">
  <p:tag name="KSO_WM_DIAGRAM_VIRTUALLY_FRAME" val="{&quot;height&quot;:299.85,&quot;left&quot;:48.75,&quot;top&quot;:180,&quot;width&quot;:467.25}"/>
</p:tagLst>
</file>

<file path=ppt/tags/tag49.xml><?xml version="1.0" encoding="utf-8"?>
<p:tagLst xmlns:p="http://schemas.openxmlformats.org/presentationml/2006/main">
  <p:tag name="KSO_WM_DIAGRAM_VIRTUALLY_FRAME" val="{&quot;height&quot;:299.85,&quot;left&quot;:48.75,&quot;top&quot;:180,&quot;width&quot;:467.25}"/>
</p:tagLst>
</file>

<file path=ppt/tags/tag50.xml><?xml version="1.0" encoding="utf-8"?>
<p:tagLst xmlns:p="http://schemas.openxmlformats.org/presentationml/2006/main">
  <p:tag name="KSO_WM_DIAGRAM_VIRTUALLY_FRAME" val="{&quot;height&quot;:299.85,&quot;left&quot;:48.75,&quot;top&quot;:180,&quot;width&quot;:467.25}"/>
</p:tagLst>
</file>

<file path=ppt/tags/tag51.xml><?xml version="1.0" encoding="utf-8"?>
<p:tagLst xmlns:p="http://schemas.openxmlformats.org/presentationml/2006/main">
  <p:tag name="KSO_WM_DIAGRAM_VIRTUALLY_FRAME" val="{&quot;height&quot;:299.85,&quot;left&quot;:48.75,&quot;top&quot;:180,&quot;width&quot;:467.25}"/>
</p:tagLst>
</file>

<file path=ppt/tags/tag52.xml><?xml version="1.0" encoding="utf-8"?>
<p:tagLst xmlns:p="http://schemas.openxmlformats.org/presentationml/2006/main">
  <p:tag name="KSO_WM_DIAGRAM_VIRTUALLY_FRAME" val="{&quot;height&quot;:299.85,&quot;left&quot;:48.75,&quot;top&quot;:180,&quot;width&quot;:467.25}"/>
</p:tagLst>
</file>

<file path=ppt/tags/tag53.xml><?xml version="1.0" encoding="utf-8"?>
<p:tagLst xmlns:p="http://schemas.openxmlformats.org/presentationml/2006/main">
  <p:tag name="KSO_WM_DIAGRAM_VIRTUALLY_FRAME" val="{&quot;height&quot;:299.85,&quot;left&quot;:48.75,&quot;top&quot;:180,&quot;width&quot;:467.25}"/>
</p:tagLst>
</file>

<file path=ppt/tags/tag54.xml><?xml version="1.0" encoding="utf-8"?>
<p:tagLst xmlns:p="http://schemas.openxmlformats.org/presentationml/2006/main">
  <p:tag name="resource_record_key" val="{&quot;10&quot;:[50059176,50059188]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1855</Words>
  <Application>WPS 演示</Application>
  <PresentationFormat>Converted Presentation</PresentationFormat>
  <Paragraphs>368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Bodoni MT</vt:lpstr>
      <vt:lpstr>华文楷体</vt:lpstr>
      <vt:lpstr>Calibri</vt:lpstr>
      <vt:lpstr>Arial Unicode MS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黄鹏飞(创新创业学院U202540787)</cp:lastModifiedBy>
  <cp:revision>2</cp:revision>
  <dcterms:created xsi:type="dcterms:W3CDTF">2026-09-20T13:58:00Z</dcterms:created>
  <dcterms:modified xsi:type="dcterms:W3CDTF">2026-09-20T16:46:49Z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C64CCCD4B7884DE0AC3316DDBEC71C6D_12</vt:lpwstr>
  </property>
</Properties>
</file>